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27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D7AB8-C15E-E881-00D2-DD1AD2366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1D8034-4ED2-790D-D594-56CE406F5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AC336AA-B6B5-67F1-95F1-3EC604FA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C79F6BD-2BC3-34D7-CA5F-C21712F5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3586228-197B-D1BB-AF7A-E64E476E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270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FC0EF-9958-D35E-D93E-A45978F6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FA744D9-4622-5747-6393-44B93B2A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96D88B9-8842-0134-4038-896D4705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1EA557-12E2-97E2-3BD3-31CA2E14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EB78678-C484-B6C3-0F67-A432043B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74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56752-DBA5-56F2-7FBF-EB69E8DD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7B5CB4B-108C-90C5-DABB-608A4E55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9188EBD-1B2C-D25A-6CF3-48335B9B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3CE52D1-0167-ECD1-4B6F-38B5505F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6526AE-18F2-F42F-CC90-47EA1098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121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2FC09-6A63-2B36-47CA-B3D10DA8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0027C9C-11FF-0CEA-F5D9-DFDEE5158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4AB0192-E4E9-F91A-16F4-76E156AA2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BE83BB0-90EE-AC06-ECE6-45150E6E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4BE1FCA-2DBE-1326-BEC2-A8D28538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BB70E12-590B-D9A4-FAA8-118738E5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559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89264-F0AD-45C3-BFE2-D6C69E4D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7ABAF91-44E7-829E-EA20-DDB191F7A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F007B07-3CD6-8ED8-57A6-1BA3DA94A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900E60D-7034-FC76-C99A-50DA2BF6D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50558E8-6099-F0D4-CEE7-3ED88993A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3D9B28B-AF2D-A349-F28E-849DE2B3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D6EDCCE-A99F-D762-A9AE-7E1FD5DD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1FA5F1F-5138-C590-FF4B-B6504CFF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99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2E847-5319-2230-0BD6-D1F8BD5C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6D10651-8113-547F-6C85-466A9269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86E7225-B72D-E85D-D6DD-C0AA19DC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DF0B764-0B73-58D4-BFCB-976513A9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62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CC09F34-9AFF-6F4F-28FF-AC5424E7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DAB331A-6397-2103-112D-4FB139D3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C130236-A5CF-C4FB-4106-3F4F9B7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38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04BFA-631C-B79F-21D9-66D8580D4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47A2185-9030-F8A3-8ADD-EA268C327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1F931CD-7E7A-E6AC-4485-408D21E7D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EC0EAB1-ECA9-A437-9A71-40FD4220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B2229DA-2C80-1D88-F064-76D15665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17731B8-419B-011A-C543-6F854B32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507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D1E27-33A4-FEC5-A34D-B31852C5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E1DFB66-AC96-097A-7C81-F826BB2B2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35E6E33-829E-0C06-05BC-821DA0120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516CD3E-D667-1B3B-2A67-72F6D46C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527CE0C-3D8C-8960-365D-B259BED3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CFD15C-9813-3C1C-D307-8470E737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761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CBCA8-3803-0FC9-278A-FD434AB7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8D5005E-AD35-DA19-9FB5-D6CFB7077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0C83844-8CCC-DDAE-BB6A-3E01ADED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0E5CD5F-9818-FC91-D6D6-E6B4C47D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F8C18E6-28D0-B1D5-9D31-E0CEB77B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626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5BB296-3F64-6914-78C5-3A18CAF14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7D2633E-C1CB-4660-1A39-442FBB5BF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02D53D0-2761-22AE-6072-90498AE85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0278FE3-BD27-FF56-4F55-244F8668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9F5886F-7753-81D9-BAF0-899C94C0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086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579C159-204E-9922-DB79-0DC8209E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1B72FE-9D07-5906-21F8-C47A74341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FFFEF9-74E0-7E54-1E84-4E0A1EB6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CA379-833C-4B3D-A757-8C955FBC640C}" type="datetimeFigureOut">
              <a:rPr lang="pt-PT" smtClean="0"/>
              <a:t>23/04/2026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BA9F57-BA5C-B005-EF66-002DB1FBE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7E7570F-7FED-ED9B-08FA-54383BDF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0ACAC-0AAA-4A22-B699-E1203E6C756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6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94A93AB-CF45-C5AB-B6F6-6ADAB3E21D61}"/>
              </a:ext>
            </a:extLst>
          </p:cNvPr>
          <p:cNvSpPr txBox="1"/>
          <p:nvPr/>
        </p:nvSpPr>
        <p:spPr>
          <a:xfrm>
            <a:off x="856378" y="520579"/>
            <a:ext cx="2401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a) </a:t>
            </a:r>
            <a:r>
              <a:rPr lang="en-US" sz="1400" noProof="0" dirty="0"/>
              <a:t>For the selected X, all literals independently constrain the output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8A9294-0C72-431A-29FF-04E5E3853F1B}"/>
              </a:ext>
            </a:extLst>
          </p:cNvPr>
          <p:cNvSpPr/>
          <p:nvPr/>
        </p:nvSpPr>
        <p:spPr>
          <a:xfrm>
            <a:off x="749340" y="1356852"/>
            <a:ext cx="2508077" cy="2072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C13372-301E-32A5-6049-A142B16E2D87}"/>
              </a:ext>
            </a:extLst>
          </p:cNvPr>
          <p:cNvSpPr/>
          <p:nvPr/>
        </p:nvSpPr>
        <p:spPr>
          <a:xfrm>
            <a:off x="944259" y="1586926"/>
            <a:ext cx="1226825" cy="11562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3646DD-AEB3-DC96-8A4A-5851780183FA}"/>
              </a:ext>
            </a:extLst>
          </p:cNvPr>
          <p:cNvSpPr/>
          <p:nvPr/>
        </p:nvSpPr>
        <p:spPr>
          <a:xfrm>
            <a:off x="1711175" y="1586926"/>
            <a:ext cx="1226825" cy="11562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4B543C-132D-A800-9F67-FB36A2066578}"/>
              </a:ext>
            </a:extLst>
          </p:cNvPr>
          <p:cNvSpPr/>
          <p:nvPr/>
        </p:nvSpPr>
        <p:spPr>
          <a:xfrm>
            <a:off x="1327717" y="2165063"/>
            <a:ext cx="1226825" cy="11562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D7F34A-CE6A-BCAC-D96B-4BEB0BD936C9}"/>
              </a:ext>
            </a:extLst>
          </p:cNvPr>
          <p:cNvSpPr txBox="1"/>
          <p:nvPr/>
        </p:nvSpPr>
        <p:spPr>
          <a:xfrm>
            <a:off x="1652602" y="216767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65088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2BF9D2-E482-2D6D-572F-A8A4391CEACA}"/>
              </a:ext>
            </a:extLst>
          </p:cNvPr>
          <p:cNvSpPr txBox="1"/>
          <p:nvPr/>
        </p:nvSpPr>
        <p:spPr>
          <a:xfrm>
            <a:off x="854758" y="1391707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B1961D-29D1-988D-397E-E68E81B78234}"/>
              </a:ext>
            </a:extLst>
          </p:cNvPr>
          <p:cNvSpPr txBox="1"/>
          <p:nvPr/>
        </p:nvSpPr>
        <p:spPr>
          <a:xfrm>
            <a:off x="2554542" y="1402260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812D2F-0593-CFFE-99DE-E6184822AD09}"/>
              </a:ext>
            </a:extLst>
          </p:cNvPr>
          <p:cNvSpPr txBox="1"/>
          <p:nvPr/>
        </p:nvSpPr>
        <p:spPr>
          <a:xfrm>
            <a:off x="2337175" y="2997413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D6CF2B-7B4E-EBAD-D3A1-73594EEB253A}"/>
              </a:ext>
            </a:extLst>
          </p:cNvPr>
          <p:cNvSpPr txBox="1"/>
          <p:nvPr/>
        </p:nvSpPr>
        <p:spPr>
          <a:xfrm>
            <a:off x="1568214" y="180415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D56E2EC-9F13-1443-59D2-67CE50E00168}"/>
              </a:ext>
            </a:extLst>
          </p:cNvPr>
          <p:cNvSpPr txBox="1"/>
          <p:nvPr/>
        </p:nvSpPr>
        <p:spPr>
          <a:xfrm>
            <a:off x="1239438" y="2382292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2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9CC7750-5970-A5ED-106B-C1E8AAC80E52}"/>
              </a:ext>
            </a:extLst>
          </p:cNvPr>
          <p:cNvSpPr txBox="1"/>
          <p:nvPr/>
        </p:nvSpPr>
        <p:spPr>
          <a:xfrm>
            <a:off x="1893099" y="2378758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1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D4B665E-1D10-AFED-CF0D-B859B55E71C0}"/>
              </a:ext>
            </a:extLst>
          </p:cNvPr>
          <p:cNvSpPr txBox="1"/>
          <p:nvPr/>
        </p:nvSpPr>
        <p:spPr>
          <a:xfrm>
            <a:off x="3556346" y="561900"/>
            <a:ext cx="2641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b) </a:t>
            </a:r>
            <a:r>
              <a:rPr lang="en-US" sz="1400" noProof="0" dirty="0"/>
              <a:t>For the selected X, only Q</a:t>
            </a:r>
            <a:r>
              <a:rPr lang="en-US" sz="1400" baseline="-25000" noProof="0" dirty="0"/>
              <a:t>1</a:t>
            </a:r>
            <a:r>
              <a:rPr lang="en-US" sz="1400" noProof="0" dirty="0"/>
              <a:t> and Q</a:t>
            </a:r>
            <a:r>
              <a:rPr lang="en-US" sz="1400" baseline="-25000" noProof="0" dirty="0"/>
              <a:t>2</a:t>
            </a:r>
            <a:r>
              <a:rPr lang="en-US" sz="1400" noProof="0" dirty="0"/>
              <a:t> independently constrain the output (Q3 is redundant)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BD7A24-26C0-4B18-495B-D3339C4A744F}"/>
              </a:ext>
            </a:extLst>
          </p:cNvPr>
          <p:cNvSpPr/>
          <p:nvPr/>
        </p:nvSpPr>
        <p:spPr>
          <a:xfrm>
            <a:off x="3668867" y="1356852"/>
            <a:ext cx="2528524" cy="2072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90103A-D6F8-D3F5-4BFD-C411FE581E94}"/>
              </a:ext>
            </a:extLst>
          </p:cNvPr>
          <p:cNvSpPr/>
          <p:nvPr/>
        </p:nvSpPr>
        <p:spPr>
          <a:xfrm>
            <a:off x="3921783" y="1586926"/>
            <a:ext cx="1226825" cy="11562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119DE0D-165A-7621-4887-D00801954BC3}"/>
              </a:ext>
            </a:extLst>
          </p:cNvPr>
          <p:cNvSpPr/>
          <p:nvPr/>
        </p:nvSpPr>
        <p:spPr>
          <a:xfrm>
            <a:off x="4688699" y="1586926"/>
            <a:ext cx="1226825" cy="11562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944426-F33F-6E5E-EFA8-56B3A7095F30}"/>
              </a:ext>
            </a:extLst>
          </p:cNvPr>
          <p:cNvSpPr/>
          <p:nvPr/>
        </p:nvSpPr>
        <p:spPr>
          <a:xfrm>
            <a:off x="4257240" y="1682459"/>
            <a:ext cx="1406978" cy="1325558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A0E3AAA-8716-0154-CAD9-4705FC3879D6}"/>
              </a:ext>
            </a:extLst>
          </p:cNvPr>
          <p:cNvSpPr txBox="1"/>
          <p:nvPr/>
        </p:nvSpPr>
        <p:spPr>
          <a:xfrm>
            <a:off x="4646161" y="204501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65088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A9CB8F3-FE67-714B-DCCD-B37C5FA2C753}"/>
              </a:ext>
            </a:extLst>
          </p:cNvPr>
          <p:cNvSpPr txBox="1"/>
          <p:nvPr/>
        </p:nvSpPr>
        <p:spPr>
          <a:xfrm>
            <a:off x="3832282" y="1391707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E361658-8078-2736-F599-7CA8C411FB60}"/>
              </a:ext>
            </a:extLst>
          </p:cNvPr>
          <p:cNvSpPr txBox="1"/>
          <p:nvPr/>
        </p:nvSpPr>
        <p:spPr>
          <a:xfrm>
            <a:off x="5532066" y="1402260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98C0B34-B9EA-CAFA-A306-88A30DCFF9D0}"/>
              </a:ext>
            </a:extLst>
          </p:cNvPr>
          <p:cNvSpPr txBox="1"/>
          <p:nvPr/>
        </p:nvSpPr>
        <p:spPr>
          <a:xfrm>
            <a:off x="4856929" y="2948392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3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420274C-ECF6-FCE9-F537-819AAD781EB8}"/>
              </a:ext>
            </a:extLst>
          </p:cNvPr>
          <p:cNvSpPr txBox="1"/>
          <p:nvPr/>
        </p:nvSpPr>
        <p:spPr>
          <a:xfrm>
            <a:off x="4056413" y="214270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2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6A57427-BDA2-DE1B-3ABD-262858D031A2}"/>
              </a:ext>
            </a:extLst>
          </p:cNvPr>
          <p:cNvSpPr txBox="1"/>
          <p:nvPr/>
        </p:nvSpPr>
        <p:spPr>
          <a:xfrm>
            <a:off x="4992687" y="225518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1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AE2A6ED-388B-0400-9483-EBDAFA885DE2}"/>
              </a:ext>
            </a:extLst>
          </p:cNvPr>
          <p:cNvSpPr txBox="1"/>
          <p:nvPr/>
        </p:nvSpPr>
        <p:spPr>
          <a:xfrm>
            <a:off x="6593720" y="520579"/>
            <a:ext cx="2804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c) </a:t>
            </a:r>
            <a:r>
              <a:rPr lang="en-US" sz="1400" noProof="0" dirty="0"/>
              <a:t>For the selected X, only Q</a:t>
            </a:r>
            <a:r>
              <a:rPr lang="en-US" sz="1400" baseline="-25000" noProof="0" dirty="0"/>
              <a:t>1</a:t>
            </a:r>
            <a:r>
              <a:rPr lang="en-US" sz="1400" noProof="0" dirty="0"/>
              <a:t> independently constrains the output (Q2 and Q3 </a:t>
            </a:r>
            <a:r>
              <a:rPr lang="en-US" sz="1400" noProof="0" dirty="0">
                <a:sym typeface="Symbol" panose="05050102010706020507" pitchFamily="18" charset="2"/>
              </a:rPr>
              <a:t>are redundant</a:t>
            </a:r>
            <a:r>
              <a:rPr lang="en-US" sz="1400" noProof="0" dirty="0"/>
              <a:t>)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6056326-38CE-8943-DB19-697E03CB0CE8}"/>
              </a:ext>
            </a:extLst>
          </p:cNvPr>
          <p:cNvSpPr/>
          <p:nvPr/>
        </p:nvSpPr>
        <p:spPr>
          <a:xfrm>
            <a:off x="6696054" y="1356852"/>
            <a:ext cx="2536846" cy="2072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62668E0-4CD3-C31C-4D33-8CB0F99306B7}"/>
              </a:ext>
            </a:extLst>
          </p:cNvPr>
          <p:cNvSpPr/>
          <p:nvPr/>
        </p:nvSpPr>
        <p:spPr>
          <a:xfrm>
            <a:off x="7490835" y="2036947"/>
            <a:ext cx="881592" cy="8308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37C4D0-A3F3-FC33-EBA8-8CC56187D0E7}"/>
              </a:ext>
            </a:extLst>
          </p:cNvPr>
          <p:cNvSpPr/>
          <p:nvPr/>
        </p:nvSpPr>
        <p:spPr>
          <a:xfrm>
            <a:off x="7241399" y="1696231"/>
            <a:ext cx="1700868" cy="1436375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5C4C84B-B56F-C3EF-FE18-22552A4F1B1E}"/>
              </a:ext>
            </a:extLst>
          </p:cNvPr>
          <p:cNvSpPr txBox="1"/>
          <p:nvPr/>
        </p:nvSpPr>
        <p:spPr>
          <a:xfrm>
            <a:off x="7617567" y="2221100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65088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724CB3D-BEBC-C724-410C-BEACE2CDBC7E}"/>
              </a:ext>
            </a:extLst>
          </p:cNvPr>
          <p:cNvSpPr txBox="1"/>
          <p:nvPr/>
        </p:nvSpPr>
        <p:spPr>
          <a:xfrm>
            <a:off x="8216904" y="2036434"/>
            <a:ext cx="434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FCE0E47-CC5F-BBE0-E970-BA577FD4BDFD}"/>
              </a:ext>
            </a:extLst>
          </p:cNvPr>
          <p:cNvSpPr txBox="1"/>
          <p:nvPr/>
        </p:nvSpPr>
        <p:spPr>
          <a:xfrm>
            <a:off x="6696053" y="1586926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2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AF2AACF-086D-88A7-F3E4-D1D751648E30}"/>
              </a:ext>
            </a:extLst>
          </p:cNvPr>
          <p:cNvSpPr txBox="1"/>
          <p:nvPr/>
        </p:nvSpPr>
        <p:spPr>
          <a:xfrm>
            <a:off x="8618145" y="1617210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Q</a:t>
            </a:r>
            <a:r>
              <a:rPr lang="pt-PT" sz="1400" baseline="-250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FACB63C-513C-2053-D38C-04011B5B0FDF}"/>
              </a:ext>
            </a:extLst>
          </p:cNvPr>
          <p:cNvSpPr/>
          <p:nvPr/>
        </p:nvSpPr>
        <p:spPr>
          <a:xfrm>
            <a:off x="6831944" y="1672418"/>
            <a:ext cx="1760082" cy="1436375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54ED51F-C8A1-A3EA-F92F-CB3711C93C3F}"/>
              </a:ext>
            </a:extLst>
          </p:cNvPr>
          <p:cNvSpPr txBox="1"/>
          <p:nvPr/>
        </p:nvSpPr>
        <p:spPr>
          <a:xfrm>
            <a:off x="7425018" y="174081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06363">
              <a:buFont typeface="Arial" panose="020B0604020202020204" pitchFamily="34" charset="0"/>
              <a:buChar char="•"/>
            </a:pPr>
            <a:r>
              <a:rPr lang="pt-PT" sz="1400" dirty="0"/>
              <a:t>Y</a:t>
            </a:r>
            <a:r>
              <a:rPr lang="pt-PT" sz="1400" baseline="-25000" dirty="0"/>
              <a:t>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546E7D9-836E-6732-B354-A6FAB9904BB3}"/>
              </a:ext>
            </a:extLst>
          </p:cNvPr>
          <p:cNvSpPr txBox="1"/>
          <p:nvPr/>
        </p:nvSpPr>
        <p:spPr>
          <a:xfrm>
            <a:off x="749340" y="3920660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Legend</a:t>
            </a:r>
            <a:r>
              <a:rPr lang="en-US" sz="1400" dirty="0"/>
              <a:t>:  </a:t>
            </a:r>
            <a:br>
              <a:rPr lang="en-US" sz="1400" dirty="0"/>
            </a:br>
            <a:r>
              <a:rPr lang="en-US" sz="800" dirty="0"/>
              <a:t>● </a:t>
            </a:r>
            <a:r>
              <a:rPr lang="en-US" sz="1400" dirty="0"/>
              <a:t>Y = full-clause witness      </a:t>
            </a:r>
          </a:p>
          <a:p>
            <a:r>
              <a:rPr lang="en-US" sz="700" dirty="0"/>
              <a:t>●</a:t>
            </a:r>
            <a:r>
              <a:rPr lang="en-US" sz="1400" dirty="0"/>
              <a:t> </a:t>
            </a:r>
            <a:r>
              <a:rPr lang="en-US" sz="1400" dirty="0" err="1"/>
              <a:t>Y</a:t>
            </a:r>
            <a:r>
              <a:rPr lang="en-US" sz="1400" baseline="-25000" dirty="0" err="1"/>
              <a:t>k</a:t>
            </a:r>
            <a:r>
              <a:rPr lang="en-US" sz="1400" dirty="0"/>
              <a:t> = witness of ¬</a:t>
            </a:r>
            <a:r>
              <a:rPr lang="en-US" sz="1400" dirty="0" err="1"/>
              <a:t>Q</a:t>
            </a:r>
            <a:r>
              <a:rPr lang="en-US" sz="1400" baseline="-25000" dirty="0" err="1"/>
              <a:t>k</a:t>
            </a:r>
            <a:endParaRPr lang="pt-PT" sz="1400" baseline="-25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C8CDF-2B64-3CF9-7244-AFBC860B7F0A}"/>
              </a:ext>
            </a:extLst>
          </p:cNvPr>
          <p:cNvSpPr txBox="1"/>
          <p:nvPr/>
        </p:nvSpPr>
        <p:spPr>
          <a:xfrm>
            <a:off x="849361" y="3421469"/>
            <a:ext cx="2035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Output space for fixed X</a:t>
            </a:r>
            <a:endParaRPr lang="pt-PT" sz="1400" i="1" baseline="-25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29B2B1-0DCF-B9D7-40A7-994F3F42D3F8}"/>
              </a:ext>
            </a:extLst>
          </p:cNvPr>
          <p:cNvSpPr txBox="1"/>
          <p:nvPr/>
        </p:nvSpPr>
        <p:spPr>
          <a:xfrm>
            <a:off x="3958861" y="3421469"/>
            <a:ext cx="2035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Output space for fixed X</a:t>
            </a:r>
            <a:endParaRPr lang="pt-PT" sz="1400" i="1" baseline="-25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9D5E5C-EEE9-D0C1-55E7-B7F63D9EFD5B}"/>
              </a:ext>
            </a:extLst>
          </p:cNvPr>
          <p:cNvSpPr txBox="1"/>
          <p:nvPr/>
        </p:nvSpPr>
        <p:spPr>
          <a:xfrm>
            <a:off x="6900456" y="3421469"/>
            <a:ext cx="2035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Output space for fixed X</a:t>
            </a:r>
            <a:endParaRPr lang="pt-PT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6844513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101</Words>
  <Application>Microsoft Office PowerPoint</Application>
  <PresentationFormat>Ecrã Panorâmico</PresentationFormat>
  <Paragraphs>26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Carlos Pascoal Faria</dc:creator>
  <cp:lastModifiedBy>João Carlos Pascoal Faria</cp:lastModifiedBy>
  <cp:revision>6</cp:revision>
  <dcterms:created xsi:type="dcterms:W3CDTF">2026-04-23T16:53:24Z</dcterms:created>
  <dcterms:modified xsi:type="dcterms:W3CDTF">2026-04-23T17:39:08Z</dcterms:modified>
</cp:coreProperties>
</file>